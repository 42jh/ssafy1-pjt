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서비스명 잇닥(ITdoc)과 한 줄 정의로 시작. 첫 화면부터 '진단이 아닌 참고용 정보'라는 면책 톤을 깔고 출발한다.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문제: 진료과를 모름 / 검색을 못 믿음 / 응급 판단 지연. 그래서 근거 있는 추천 + 응급 우선 + 병원 안내가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4대 차별점: 근거 제시 / 복수 추천(오분류 대응) / 응급 우선 / 실데이터. 핵심 한 줄은 '검색이 아니라 근거 있는 추천'.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일반 흐름은 증상 입력→추천→병원→상세·길찾기로 이어지고, 응급은 이 흐름을 건너뛰어 119·응급실로 분기한다.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형태소 분석 없이 부분일치+동의어+어간으로 매칭하고 가중치로 점수화한다. 사용자 👍/👎는 학습값으로 순위를 미세 보정(±5 클램프)한다.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키워드 511 / 진료과 16 / 병원 554 / 진료시간 236의 실데이터. 지도는 메달 마커·클러스터링·앱 내 길찾기·반경 자동 확장으로 빈 화면을 막는다.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FE-BE-외부데이터 3계층. 길찾기 같은 외부 REST 키는 백엔드 프록시로만 호출해 프런트에 노출하지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트러블슈팅 — UA 차단 우회, 치과 세부과목 보정, API 버전 스캔, 카카오 콘솔 도메인. 발표 때는 1~2개만 골라 짧게.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 후 향후 계획(회원정보 관리·위치 정확도·진료시간·형태소)을 짧게. 면책으로 닫고 감사 인사. Q&amp;A는 DEMO.md 표 활용.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37A8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143000" cy="1143000"/>
          </a:xfrm>
          <a:prstGeom prst="ellipse">
            <a:avLst/>
          </a:prstGeom>
          <a:solidFill>
            <a:srgbClr val="037A87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91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97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잇닥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6868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ITdoc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증상을 입력하면, 갈 진료과와 가까운 병원을 알려드립니다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서비스의 추천은 진단이 아닌 참고용 정보입니다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SSAFY 1학기 관통 프로젝트  ·  2026.06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과를 가야 하지?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9584" cy="2743200"/>
          </a:xfrm>
          <a:prstGeom prst="roundRect">
            <a:avLst>
              <a:gd name="adj" fmla="val 4000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037A87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52923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3756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진료과를 모른다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84048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증상은 있는데 내과·이비인후과·피부과… 어디로 가야 할지 막막하다.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35424" y="1920240"/>
            <a:ext cx="3529584" cy="2743200"/>
          </a:xfrm>
          <a:prstGeom prst="roundRect">
            <a:avLst>
              <a:gd name="adj" fmla="val 4000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55464" y="2286000"/>
            <a:ext cx="868680" cy="868680"/>
          </a:xfrm>
          <a:prstGeom prst="ellipse">
            <a:avLst/>
          </a:prstGeom>
          <a:solidFill>
            <a:srgbClr val="037A87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694" y="252923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55464" y="333756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검색은 못 믿는다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855464" y="384048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포털 검색은 광고와 불안 조장이 섞여 근거가 불명확하다.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430768" y="1920240"/>
            <a:ext cx="3529584" cy="2743200"/>
          </a:xfrm>
          <a:prstGeom prst="roundRect">
            <a:avLst>
              <a:gd name="adj" fmla="val 4000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50808" y="2286000"/>
            <a:ext cx="868680" cy="868680"/>
          </a:xfrm>
          <a:prstGeom prst="ellipse">
            <a:avLst/>
          </a:prstGeom>
          <a:solidFill>
            <a:srgbClr val="037A87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038" y="252923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50808" y="333756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판단이 늦다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750808" y="384048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응급인지 아닌지 늦게 알아채 위험해지는 상황이 생긴다.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0A3D46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잇닥의 해법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있는 진료과 추천</a:t>
            </a:r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우선 분기</a:t>
            </a:r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병원 거리순 안내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ITDOC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검색이 아니라, 근거 있는 추천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77440"/>
            <a:ext cx="914400" cy="9144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6334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240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제시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103120" y="2743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추천과 함께 매칭된 증상 키워드를 보여줘 '왜 이 과인지' 납득시킨다.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29400" y="18745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9440" y="2377440"/>
            <a:ext cx="914400" cy="9144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26334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92440" y="2240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오분류 안전장치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092440" y="2743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단정하지 않고 1~3순위를 복수 추천, 각각의 근거를 함께 노출한다.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663440"/>
            <a:ext cx="914400" cy="9144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49194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03120" y="4526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우선 설계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2103120" y="5029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키워드는 추천보다 먼저 검사해 119 안내로 강제 분기한다.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629400" y="41605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49440" y="4663440"/>
            <a:ext cx="914400" cy="9144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49194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92440" y="4526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기반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8092440" y="5029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심평원 구미권 병·의원과 E-Gen 응급실 실데이터로 안내한다.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한 번으로, 병원 앞까지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423160"/>
            <a:ext cx="914400" cy="914400"/>
          </a:xfrm>
          <a:prstGeom prst="ellipse">
            <a:avLst/>
          </a:prstGeom>
          <a:solidFill>
            <a:srgbClr val="037A87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6791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29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입력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증상 입력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99816" y="27432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3538728" y="21031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8828" y="2423160"/>
            <a:ext cx="914400" cy="914400"/>
          </a:xfrm>
          <a:prstGeom prst="ellipse">
            <a:avLst/>
          </a:prstGeom>
          <a:solidFill>
            <a:srgbClr val="037A87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67919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0168" y="3429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 추천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0168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1~3순위 + 근거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98464" y="27432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Shape 12"/>
          <p:cNvSpPr/>
          <p:nvPr/>
        </p:nvSpPr>
        <p:spPr>
          <a:xfrm>
            <a:off x="6437376" y="21031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37476" y="2423160"/>
            <a:ext cx="914400" cy="914400"/>
          </a:xfrm>
          <a:prstGeom prst="ellipse">
            <a:avLst/>
          </a:prstGeom>
          <a:solidFill>
            <a:srgbClr val="037A87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508" y="267919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28816" y="3429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리스트·지도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28816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거리순 · 메달 마커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897112" y="27432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400" dirty="0"/>
          </a:p>
        </p:txBody>
      </p:sp>
      <p:sp>
        <p:nvSpPr>
          <p:cNvPr id="22" name="Shape 17"/>
          <p:cNvSpPr/>
          <p:nvPr/>
        </p:nvSpPr>
        <p:spPr>
          <a:xfrm>
            <a:off x="9336024" y="21031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36124" y="2423160"/>
            <a:ext cx="914400" cy="914400"/>
          </a:xfrm>
          <a:prstGeom prst="ellipse">
            <a:avLst/>
          </a:prstGeom>
          <a:solidFill>
            <a:srgbClr val="037A87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2156" y="267919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27464" y="3429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· 길찾기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427464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진료시간 · 앱 내 경로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BE9EC"/>
          </a:solidFill>
          <a:ln/>
        </p:spPr>
      </p:sp>
      <p:sp>
        <p:nvSpPr>
          <p:cNvPr id="28" name="Shape 22"/>
          <p:cNvSpPr/>
          <p:nvPr/>
        </p:nvSpPr>
        <p:spPr>
          <a:xfrm>
            <a:off x="914400" y="5138928"/>
            <a:ext cx="640080" cy="640080"/>
          </a:xfrm>
          <a:prstGeom prst="ellipse">
            <a:avLst/>
          </a:prstGeom>
          <a:solidFill>
            <a:srgbClr val="D7263D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622" y="5318150"/>
            <a:ext cx="281635" cy="28163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91640" y="49834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72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분기  </a:t>
            </a:r>
            <a:pPr indent="0" marL="0">
              <a:buNone/>
            </a:pPr>
            <a:r>
              <a:rPr lang="en-US" sz="1450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키워드가 감지되면 추천을 건너뛰고 119 안내 + 가까운 응급실을 거리순으로 보여줍니다.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RECOMMENDATION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엔진은 이렇게 동작한다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11296" cy="1371600"/>
          </a:xfrm>
          <a:prstGeom prst="roundRect">
            <a:avLst>
              <a:gd name="adj" fmla="val 6667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58568"/>
            <a:ext cx="603504" cy="603504"/>
          </a:xfrm>
          <a:prstGeom prst="ellipse">
            <a:avLst/>
          </a:prstGeom>
          <a:solidFill>
            <a:srgbClr val="037A87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58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정규화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45920" y="2551176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 제거 · 동의어/어간 치환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17136" y="1874520"/>
            <a:ext cx="3511296" cy="1371600"/>
          </a:xfrm>
          <a:prstGeom prst="roundRect">
            <a:avLst>
              <a:gd name="adj" fmla="val 6667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2258568"/>
            <a:ext cx="603504" cy="603504"/>
          </a:xfrm>
          <a:prstGeom prst="ellipse">
            <a:avLst/>
          </a:prstGeom>
          <a:solidFill>
            <a:srgbClr val="037A87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2258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22976" y="214884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검사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522976" y="2551176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키워드 우선 대조 → 분기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94192" y="1874520"/>
            <a:ext cx="3511296" cy="1371600"/>
          </a:xfrm>
          <a:prstGeom prst="roundRect">
            <a:avLst>
              <a:gd name="adj" fmla="val 6667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50224" y="2258568"/>
            <a:ext cx="603504" cy="603504"/>
          </a:xfrm>
          <a:prstGeom prst="ellipse">
            <a:avLst/>
          </a:prstGeom>
          <a:solidFill>
            <a:srgbClr val="037A87"/>
          </a:solidFill>
          <a:ln/>
        </p:spPr>
      </p:sp>
      <p:sp>
        <p:nvSpPr>
          <p:cNvPr id="16" name="Text 14"/>
          <p:cNvSpPr/>
          <p:nvPr/>
        </p:nvSpPr>
        <p:spPr>
          <a:xfrm>
            <a:off x="8650224" y="2258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00032" y="214884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매칭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400032" y="2551176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부분일치 → 진료과 수집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3511296" cy="1371600"/>
          </a:xfrm>
          <a:prstGeom prst="roundRect">
            <a:avLst>
              <a:gd name="adj" fmla="val 6667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950208"/>
            <a:ext cx="603504" cy="603504"/>
          </a:xfrm>
          <a:prstGeom prst="ellipse">
            <a:avLst/>
          </a:prstGeom>
          <a:solidFill>
            <a:srgbClr val="037A87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9502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5920" y="384048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합산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645920" y="4242816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진료과별 가중치 합산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17136" y="3566160"/>
            <a:ext cx="3511296" cy="1371600"/>
          </a:xfrm>
          <a:prstGeom prst="roundRect">
            <a:avLst>
              <a:gd name="adj" fmla="val 6667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3950208"/>
            <a:ext cx="603504" cy="603504"/>
          </a:xfrm>
          <a:prstGeom prst="ellipse">
            <a:avLst/>
          </a:prstGeom>
          <a:solidFill>
            <a:srgbClr val="037A87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39502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22976" y="384048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보정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5522976" y="4242816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평가 학습값 가산(±5)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94192" y="3566160"/>
            <a:ext cx="3511296" cy="1371600"/>
          </a:xfrm>
          <a:prstGeom prst="roundRect">
            <a:avLst>
              <a:gd name="adj" fmla="val 6667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50224" y="3950208"/>
            <a:ext cx="603504" cy="603504"/>
          </a:xfrm>
          <a:prstGeom prst="ellipse">
            <a:avLst/>
          </a:prstGeom>
          <a:solidFill>
            <a:srgbClr val="037A87"/>
          </a:solidFill>
          <a:ln/>
        </p:spPr>
      </p:sp>
      <p:sp>
        <p:nvSpPr>
          <p:cNvPr id="31" name="Text 29"/>
          <p:cNvSpPr/>
          <p:nvPr/>
        </p:nvSpPr>
        <p:spPr>
          <a:xfrm>
            <a:off x="8650224" y="39502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00032" y="384048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랭킹·폴백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400032" y="4242816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1~3순위 / 0건이면 내과 안내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53212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E2F1F1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3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산정  </a:t>
            </a:r>
            <a:pPr indent="0" marL="0">
              <a:buNone/>
            </a:pPr>
            <a:r>
              <a:rPr lang="en-US" sz="1450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증상 ×3   ·   일반 증상 ×2   ·   여러 과에 걸치는 약한 신호 ×1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&amp;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위에, 지도로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A3D46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94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사전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3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Admin에서 관리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39312" y="19202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A3D46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30752" y="2194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730752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30752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3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HIRA 코드 1:1 정규화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38544" y="19202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A3D46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9984" y="2194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554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729984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병·의원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9984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3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심평원 구미·김천·칠곡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37776" y="19202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A3D46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29216" y="2194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236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729216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진료시간 실데이터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729216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3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요일별 영업 판정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08760" y="4453128"/>
            <a:ext cx="868680" cy="8686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990" y="4696358"/>
            <a:ext cx="382219" cy="38221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9808" y="53949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탑3 메달 마커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3639312" y="41605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07992" y="4453128"/>
            <a:ext cx="868680" cy="8686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22" y="4696358"/>
            <a:ext cx="382219" cy="38221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749040" y="53949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 클러스터링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6638544" y="41605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507224" y="4453128"/>
            <a:ext cx="868680" cy="8686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454" y="4696358"/>
            <a:ext cx="382219" cy="382219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748272" y="53949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내 길찾기(실도로)</a:t>
            </a:r>
            <a:endParaRPr lang="en-US" sz="1350" dirty="0"/>
          </a:p>
        </p:txBody>
      </p:sp>
      <p:sp>
        <p:nvSpPr>
          <p:cNvPr id="32" name="Shape 27"/>
          <p:cNvSpPr/>
          <p:nvPr/>
        </p:nvSpPr>
        <p:spPr>
          <a:xfrm>
            <a:off x="9637776" y="41605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10506456" y="4453128"/>
            <a:ext cx="868680" cy="8686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9686" y="4696358"/>
            <a:ext cx="382219" cy="382219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747504" y="53949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자동 확장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9584" cy="3383280"/>
          </a:xfrm>
          <a:prstGeom prst="roundRect">
            <a:avLst>
              <a:gd name="adj" fmla="val 3243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914400" cy="914400"/>
          </a:xfrm>
          <a:prstGeom prst="ellipse">
            <a:avLst/>
          </a:prstGeom>
          <a:solidFill>
            <a:srgbClr val="037A87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5420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42316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51560" y="3429000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Vue 3 (Composition API)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Pinia · Vue Router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 JS SDK 임베드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33088" y="3200400"/>
            <a:ext cx="420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535424" y="1920240"/>
            <a:ext cx="3529584" cy="3383280"/>
          </a:xfrm>
          <a:prstGeom prst="roundRect">
            <a:avLst>
              <a:gd name="adj" fmla="val 3243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01184" y="2286000"/>
            <a:ext cx="914400" cy="91440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16" y="25420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52744" y="242316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946904" y="3429000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 4.2 + DRF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엔진 · Haversine 거리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프록시 · JWT 인증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028432" y="3200400"/>
            <a:ext cx="420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8430768" y="1920240"/>
            <a:ext cx="3529584" cy="3383280"/>
          </a:xfrm>
          <a:prstGeom prst="roundRect">
            <a:avLst>
              <a:gd name="adj" fmla="val 3243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96528" y="2286000"/>
            <a:ext cx="914400" cy="9144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54203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48088" y="242316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 · API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842248" y="3429000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심평원 병원·상세정보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E-Gen 응급실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카카오모빌리티 길찾기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길찾기 REST 키는 백엔드 프록시로만 호출해 노출하지 않습니다.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37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곳에서 배운 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21408"/>
            <a:ext cx="585216" cy="585216"/>
          </a:xfrm>
          <a:prstGeom prst="ellipse">
            <a:avLst/>
          </a:prstGeom>
          <a:solidFill>
            <a:srgbClr val="037A87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972" y="2285268"/>
            <a:ext cx="257495" cy="2574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3911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 User-Agent 차단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0" y="2039112"/>
            <a:ext cx="5559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기본 UA를 막아 Mozilla 헤더로 우회해 적재 성공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72384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273552"/>
            <a:ext cx="585216" cy="585216"/>
          </a:xfrm>
          <a:prstGeom prst="ellipse">
            <a:avLst/>
          </a:prstGeom>
          <a:solidFill>
            <a:srgbClr val="037A87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72" y="3437412"/>
            <a:ext cx="257495" cy="2574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19125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 세부과목 코드 누락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760720" y="3191256"/>
            <a:ext cx="5559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치과(49)가 아닌 세부과목(50~61)으로 신고 → 보정해 168곳 확보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224528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425696"/>
            <a:ext cx="585216" cy="585216"/>
          </a:xfrm>
          <a:prstGeom prst="ellipse">
            <a:avLst/>
          </a:prstGeom>
          <a:solidFill>
            <a:srgbClr val="037A87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72" y="4589556"/>
            <a:ext cx="257495" cy="2574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434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버전 문서와 불일치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760720" y="4343400"/>
            <a:ext cx="5559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상세정보 API가 문서와 달리 2.8 → 버전 스캔으로 발견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376672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F2FAFA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5577840"/>
            <a:ext cx="585216" cy="585216"/>
          </a:xfrm>
          <a:prstGeom prst="ellipse">
            <a:avLst/>
          </a:prstGeom>
          <a:solidFill>
            <a:srgbClr val="037A87"/>
          </a:solidFill>
          <a:ln/>
          <a:effectLst>
            <a:outerShdw sx="100000" sy="100000" kx="0" ky="0" algn="bl" rotWithShape="0" blurRad="88900" dist="38100" dir="5400000">
              <a:srgbClr val="0A3D46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972" y="5741700"/>
            <a:ext cx="257495" cy="2574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4955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콘솔 도메인 등록 함정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760720" y="5495544"/>
            <a:ext cx="5559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플랫폼이 아닌 'JavaScript SDK 도메인'에 등록해야 동작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206240" cy="4206240"/>
          </a:xfrm>
          <a:prstGeom prst="ellipse">
            <a:avLst/>
          </a:prstGeom>
          <a:solidFill>
            <a:srgbClr val="037A87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463040"/>
            <a:ext cx="3840480" cy="3840480"/>
          </a:xfrm>
          <a:prstGeom prst="ellipse">
            <a:avLst/>
          </a:prstGeom>
          <a:solidFill>
            <a:srgbClr val="02C39A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ITDOC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증상에서 병원까지, 근거 있게 잇다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있는 진료과 추천  ·  응급 우선 분기  ·  실데이터 병원·길찾기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310128"/>
            <a:ext cx="3191256" cy="566928"/>
          </a:xfrm>
          <a:prstGeom prst="roundRect">
            <a:avLst>
              <a:gd name="adj" fmla="val 50000"/>
            </a:avLst>
          </a:prstGeom>
          <a:solidFill>
            <a:srgbClr val="0E576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10128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F1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회원정보 관리(비번 수정·찾기)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88536" y="3310128"/>
            <a:ext cx="1947672" cy="566928"/>
          </a:xfrm>
          <a:prstGeom prst="roundRect">
            <a:avLst>
              <a:gd name="adj" fmla="val 50000"/>
            </a:avLst>
          </a:prstGeom>
          <a:solidFill>
            <a:srgbClr val="0E5763"/>
          </a:solidFill>
          <a:ln/>
        </p:spPr>
      </p:sp>
      <p:sp>
        <p:nvSpPr>
          <p:cNvPr id="11" name="Text 9"/>
          <p:cNvSpPr/>
          <p:nvPr/>
        </p:nvSpPr>
        <p:spPr>
          <a:xfrm>
            <a:off x="4288536" y="331012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F1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정확도 보강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10528" y="3310128"/>
            <a:ext cx="2414016" cy="566928"/>
          </a:xfrm>
          <a:prstGeom prst="roundRect">
            <a:avLst>
              <a:gd name="adj" fmla="val 50000"/>
            </a:avLst>
          </a:prstGeom>
          <a:solidFill>
            <a:srgbClr val="0E5763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3310128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F1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진료시간 커버리지 확대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98864" y="3310128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0E5763"/>
          </a:solidFill>
          <a:ln/>
        </p:spPr>
      </p:sp>
      <p:sp>
        <p:nvSpPr>
          <p:cNvPr id="15" name="Text 13"/>
          <p:cNvSpPr/>
          <p:nvPr/>
        </p:nvSpPr>
        <p:spPr>
          <a:xfrm>
            <a:off x="9198864" y="33101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F1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형태소 분석 고도화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잇닥의 추천은 진단이 아닌 참고용 정보입니다.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잇닥(ITdoc) 발표</dc:title>
  <dc:subject>PptxGenJS Presentation</dc:subject>
  <dc:creator>ITdoc Team</dc:creator>
  <cp:lastModifiedBy>ITdoc Team</cp:lastModifiedBy>
  <cp:revision>1</cp:revision>
  <dcterms:created xsi:type="dcterms:W3CDTF">2026-06-23T06:23:19Z</dcterms:created>
  <dcterms:modified xsi:type="dcterms:W3CDTF">2026-06-23T06:23:19Z</dcterms:modified>
</cp:coreProperties>
</file>